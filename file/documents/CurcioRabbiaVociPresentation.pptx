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9"/>
  </p:notesMasterIdLst>
  <p:sldIdLst>
    <p:sldId id="256" r:id="rId2"/>
    <p:sldId id="257" r:id="rId3"/>
    <p:sldId id="272" r:id="rId4"/>
    <p:sldId id="271" r:id="rId5"/>
    <p:sldId id="269" r:id="rId6"/>
    <p:sldId id="270" r:id="rId7"/>
    <p:sldId id="266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A4191-E9D6-45E0-A2F6-55BB4A56F4E7}" type="datetimeFigureOut">
              <a:rPr lang="it-IT" smtClean="0"/>
              <a:t>16/03/2026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FCD41-E5DD-4EE5-BA62-64906D2B52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840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CD41-E5DD-4EE5-BA62-64906D2B526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8234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547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9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3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3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0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37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9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7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6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2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4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‹N›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3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23FB3B-24E7-5304-70D8-3CA40290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081EE3-B6BE-9584-F5AF-E5F6484DA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806D4-0772-898E-63F1-79B2484534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9643"/>
          <a:stretch>
            <a:fillRect/>
          </a:stretch>
        </p:blipFill>
        <p:spPr>
          <a:xfrm>
            <a:off x="-149" y="-5291"/>
            <a:ext cx="12192001" cy="685800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11BF64-C99B-2F90-ADA1-0C08F9BE8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1856" y="934541"/>
            <a:ext cx="10329631" cy="4992275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0 w 9985794"/>
              <a:gd name="connsiteY0" fmla="*/ 1551223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17333 w 9985794"/>
              <a:gd name="connsiteY0" fmla="*/ 1686702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1 w 9985794"/>
              <a:gd name="connsiteY0" fmla="*/ 1686702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5794" h="4920343">
                <a:moveTo>
                  <a:pt x="1" y="1686702"/>
                </a:moveTo>
                <a:cubicBezTo>
                  <a:pt x="1" y="1124468"/>
                  <a:pt x="0" y="562234"/>
                  <a:pt x="0" y="0"/>
                </a:cubicBez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FFA42BE-2ED7-58E6-63BE-F92D23B1F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882" y="2498165"/>
            <a:ext cx="4536336" cy="2016326"/>
          </a:xfrm>
          <a:noFill/>
        </p:spPr>
        <p:txBody>
          <a:bodyPr anchor="b">
            <a:normAutofit/>
          </a:bodyPr>
          <a:lstStyle/>
          <a:p>
            <a:r>
              <a:rPr lang="it-IT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Idea	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CF80E7E-7B61-0069-A588-F5D4EF01D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9366" y="4514491"/>
            <a:ext cx="4536336" cy="1470051"/>
          </a:xfrm>
          <a:noFill/>
        </p:spPr>
        <p:txBody>
          <a:bodyPr anchor="t">
            <a:normAutofit/>
          </a:bodyPr>
          <a:lstStyle/>
          <a:p>
            <a:r>
              <a:rPr lang="it-IT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Curcio Salvatore 	MAT. 263696</a:t>
            </a:r>
          </a:p>
          <a:p>
            <a:r>
              <a:rPr lang="it-IT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Rabbia Marco 	MAT. 269211</a:t>
            </a:r>
          </a:p>
          <a:p>
            <a:r>
              <a:rPr lang="it-IT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Voci Gregorio	MAT. 263711</a:t>
            </a:r>
          </a:p>
        </p:txBody>
      </p:sp>
    </p:spTree>
    <p:extLst>
      <p:ext uri="{BB962C8B-B14F-4D97-AF65-F5344CB8AC3E}">
        <p14:creationId xmlns:p14="http://schemas.microsoft.com/office/powerpoint/2010/main" val="109872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0F90A3-8003-4C2F-5665-A58573D1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218" y="999255"/>
            <a:ext cx="3774518" cy="648764"/>
          </a:xfrm>
        </p:spPr>
        <p:txBody>
          <a:bodyPr/>
          <a:lstStyle/>
          <a:p>
            <a:pPr algn="ctr"/>
            <a:r>
              <a:rPr lang="it-IT" dirty="0" err="1"/>
              <a:t>Available</a:t>
            </a:r>
            <a:r>
              <a:rPr lang="it-IT" dirty="0"/>
              <a:t> Device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6B50B163-6879-A9BC-86B5-69FA3500B115}"/>
              </a:ext>
            </a:extLst>
          </p:cNvPr>
          <p:cNvSpPr txBox="1">
            <a:spLocks/>
          </p:cNvSpPr>
          <p:nvPr/>
        </p:nvSpPr>
        <p:spPr>
          <a:xfrm>
            <a:off x="1234197" y="1536837"/>
            <a:ext cx="5466312" cy="4212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it-IT" sz="2000" b="1" dirty="0"/>
          </a:p>
          <a:p>
            <a:pPr marL="0" indent="0">
              <a:buNone/>
            </a:pPr>
            <a:r>
              <a:rPr lang="it-IT" sz="2000" b="1" dirty="0" err="1"/>
              <a:t>Aigital</a:t>
            </a:r>
            <a:r>
              <a:rPr lang="it-IT" sz="2000" b="1" dirty="0"/>
              <a:t> N300 </a:t>
            </a:r>
            <a:r>
              <a:rPr lang="it-IT" sz="2000" b="1" dirty="0" err="1"/>
              <a:t>Repeater</a:t>
            </a:r>
            <a:endParaRPr lang="it-IT" sz="2000" b="1" dirty="0"/>
          </a:p>
          <a:p>
            <a:r>
              <a:rPr lang="en-US" sz="2000" dirty="0" err="1"/>
              <a:t>WiFi</a:t>
            </a:r>
            <a:r>
              <a:rPr lang="en-US" sz="2000" dirty="0"/>
              <a:t> repeater that has been available online for several years for a few tens of euros.</a:t>
            </a:r>
            <a:endParaRPr lang="it-IT" sz="2000" dirty="0"/>
          </a:p>
          <a:p>
            <a:r>
              <a:rPr lang="en-US" sz="2000" dirty="0"/>
              <a:t>It has several vulnerabilities:</a:t>
            </a:r>
          </a:p>
          <a:p>
            <a:pPr lvl="1"/>
            <a:r>
              <a:rPr lang="en-US" sz="2000" b="1" dirty="0"/>
              <a:t>CVE-2023-30404</a:t>
            </a:r>
            <a:r>
              <a:rPr lang="en-US" sz="2000" dirty="0"/>
              <a:t>, Remote Code Execution (RCE) with critical severity;</a:t>
            </a:r>
          </a:p>
          <a:p>
            <a:pPr lvl="1"/>
            <a:r>
              <a:rPr lang="en-US" sz="2000" b="1" dirty="0"/>
              <a:t>CVE-2023-30405</a:t>
            </a:r>
            <a:r>
              <a:rPr lang="en-US" sz="2000" dirty="0"/>
              <a:t>, Cross-Site Scripting (XSS) with medium severity.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E00186E-86D3-51CC-4AC5-EA399A0B3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736" y="1205588"/>
            <a:ext cx="2668094" cy="444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1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1FED8-AED3-1CCB-3A62-07151F02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9797B7-F415-46D1-EDB4-47FBDF26E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66" y="1060704"/>
            <a:ext cx="8977511" cy="651960"/>
          </a:xfrm>
        </p:spPr>
        <p:txBody>
          <a:bodyPr/>
          <a:lstStyle/>
          <a:p>
            <a:r>
              <a:rPr lang="it-IT" dirty="0" err="1"/>
              <a:t>Main</a:t>
            </a:r>
            <a:r>
              <a:rPr lang="it-IT" dirty="0"/>
              <a:t> STEPS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A807A2-55EE-4F88-1DAC-B63433BA7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428" y="2145319"/>
            <a:ext cx="8977509" cy="3377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previously observed, the </a:t>
            </a:r>
            <a:r>
              <a:rPr lang="en-US" dirty="0" err="1"/>
              <a:t>WiFi</a:t>
            </a:r>
            <a:r>
              <a:rPr lang="en-US" dirty="0"/>
              <a:t> repeater suffers from two known vulnerabilities: </a:t>
            </a:r>
            <a:r>
              <a:rPr lang="en-US" b="1" dirty="0"/>
              <a:t>CVE-2023-30404</a:t>
            </a:r>
            <a:r>
              <a:rPr lang="en-US" dirty="0"/>
              <a:t> and </a:t>
            </a:r>
            <a:r>
              <a:rPr lang="en-US" b="1" dirty="0"/>
              <a:t>CVE-2023-30405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Following the dump of the device’s EEPROM memory and an analysis of our possibilities, we defined the following steps:</a:t>
            </a:r>
          </a:p>
          <a:p>
            <a:r>
              <a:rPr lang="en-US" b="1" dirty="0"/>
              <a:t>Step 1: </a:t>
            </a:r>
            <a:r>
              <a:rPr lang="en-US" dirty="0"/>
              <a:t>Exploit the vulnerabilities to create an attack scenario in which we obtain full control of the device in order to attack other devices on the same network; </a:t>
            </a:r>
          </a:p>
          <a:p>
            <a:r>
              <a:rPr lang="en-US" b="1" dirty="0"/>
              <a:t>Step 2: </a:t>
            </a:r>
            <a:r>
              <a:rPr lang="en-US" dirty="0"/>
              <a:t>Firmware extraction and analysis;</a:t>
            </a:r>
          </a:p>
          <a:p>
            <a:r>
              <a:rPr lang="en-US" b="1" dirty="0"/>
              <a:t>Step 3: </a:t>
            </a:r>
            <a:r>
              <a:rPr lang="en-US" dirty="0"/>
              <a:t>Develop a firmware version in which we attempt to mitigate these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195863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3A3E1-1573-62EE-0066-8784AD7F6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A905BF-D388-EA48-A927-EB25608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66" y="1060704"/>
            <a:ext cx="8977511" cy="651960"/>
          </a:xfrm>
        </p:spPr>
        <p:txBody>
          <a:bodyPr/>
          <a:lstStyle/>
          <a:p>
            <a:r>
              <a:rPr lang="it-IT" dirty="0"/>
              <a:t>STEP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DFE84D-ECB3-EEA7-F47E-329C9438C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428" y="2145319"/>
            <a:ext cx="8977509" cy="33776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first step involves exploiting a </a:t>
            </a:r>
            <a:r>
              <a:rPr lang="en-US" b="1" dirty="0"/>
              <a:t>Remote Code Execution (RCE) </a:t>
            </a:r>
            <a:r>
              <a:rPr lang="en-US" dirty="0"/>
              <a:t>vulnerability present in the firmware of the IoT device. </a:t>
            </a:r>
          </a:p>
          <a:p>
            <a:r>
              <a:rPr lang="en-US" dirty="0"/>
              <a:t>Through this vulnerability, we achieve the execution of arbitrary code on the embedded system and obtain a reverse shell toward an externally controlled machine. </a:t>
            </a:r>
          </a:p>
          <a:p>
            <a:r>
              <a:rPr lang="en-US" dirty="0"/>
              <a:t>This allows persistent remote access and administrative control over the device.</a:t>
            </a:r>
          </a:p>
          <a:p>
            <a:pPr marL="0" indent="0">
              <a:buNone/>
            </a:pPr>
            <a:r>
              <a:rPr lang="en-US" dirty="0"/>
              <a:t>Subsequently, the compromised device is used as a point to perform a </a:t>
            </a:r>
            <a:r>
              <a:rPr lang="en-US" b="1" dirty="0"/>
              <a:t>Man-in-the-Middle (MITM) </a:t>
            </a:r>
            <a:r>
              <a:rPr lang="en-US" dirty="0"/>
              <a:t>attack through </a:t>
            </a:r>
            <a:r>
              <a:rPr lang="en-US" b="1" dirty="0"/>
              <a:t>ARP poisoning</a:t>
            </a:r>
            <a:r>
              <a:rPr lang="en-US" dirty="0"/>
              <a:t>. </a:t>
            </a:r>
          </a:p>
          <a:p>
            <a:r>
              <a:rPr lang="en-US" dirty="0"/>
              <a:t>This enables the interception of network traffic in order to identify sensitive </a:t>
            </a:r>
            <a:r>
              <a:rPr lang="en-US" b="1" dirty="0"/>
              <a:t>data and credentials</a:t>
            </a:r>
            <a:r>
              <a:rPr lang="en-US" dirty="0"/>
              <a:t>, while forwarding the packets to their original destination to maintain the transparency of the attack</a:t>
            </a:r>
            <a:r>
              <a:rPr lang="en-US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535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A48CF9-C54D-BB0F-4E86-1CB353C5F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66" y="1060704"/>
            <a:ext cx="8977511" cy="651960"/>
          </a:xfrm>
        </p:spPr>
        <p:txBody>
          <a:bodyPr/>
          <a:lstStyle/>
          <a:p>
            <a:r>
              <a:rPr lang="it-IT" dirty="0"/>
              <a:t>STEP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2571AE-B527-8675-C0F3-22607D39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428" y="2145319"/>
            <a:ext cx="8977509" cy="33776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second step consists of extracting the firmware directly from the device’s non-volatile memory (EEPROM/flash) through a hardware interface (SOIC clip), preserving its contents without physically removing the chip.</a:t>
            </a:r>
          </a:p>
          <a:p>
            <a:pPr marL="0" indent="0">
              <a:buNone/>
            </a:pPr>
            <a:r>
              <a:rPr lang="en-US" dirty="0"/>
              <a:t>The extracted firmware is then analyzed in order to:</a:t>
            </a:r>
          </a:p>
          <a:p>
            <a:r>
              <a:rPr lang="en-US" dirty="0"/>
              <a:t>identify the </a:t>
            </a:r>
            <a:r>
              <a:rPr lang="en-US" b="1" dirty="0"/>
              <a:t>internal structure </a:t>
            </a:r>
            <a:r>
              <a:rPr lang="en-US" dirty="0"/>
              <a:t>and </a:t>
            </a:r>
            <a:r>
              <a:rPr lang="en-US" b="1" dirty="0"/>
              <a:t>filesystem</a:t>
            </a:r>
            <a:r>
              <a:rPr lang="en-US" dirty="0"/>
              <a:t>;</a:t>
            </a:r>
          </a:p>
          <a:p>
            <a:r>
              <a:rPr lang="en-US" dirty="0"/>
              <a:t>locate the </a:t>
            </a:r>
            <a:r>
              <a:rPr lang="en-US" b="1" dirty="0"/>
              <a:t>vulnerable binary components </a:t>
            </a:r>
            <a:r>
              <a:rPr lang="en-US" dirty="0"/>
              <a:t>related to both the RCE and XSS vulnerabilities;</a:t>
            </a:r>
          </a:p>
          <a:p>
            <a:r>
              <a:rPr lang="en-US" dirty="0"/>
              <a:t>understand the execution flows involved in the vulnerability.</a:t>
            </a:r>
          </a:p>
          <a:p>
            <a:pPr marL="0" indent="0">
              <a:buNone/>
            </a:pPr>
            <a:r>
              <a:rPr lang="en-US" dirty="0"/>
              <a:t>This phase provides a complete view of the device’s software and constitutes the foundation for mitigation activities without relying on the original source code.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6663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9F007-3CE4-5315-AC8C-30459E26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886F98-69A9-4B04-C930-4B57F716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666" y="1060704"/>
            <a:ext cx="8977511" cy="651960"/>
          </a:xfrm>
        </p:spPr>
        <p:txBody>
          <a:bodyPr/>
          <a:lstStyle/>
          <a:p>
            <a:r>
              <a:rPr lang="it-IT" dirty="0"/>
              <a:t>STEP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A206C5-2B41-8A97-728E-24819F04A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428" y="2145319"/>
            <a:ext cx="8977509" cy="33776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RCE vulnerability </a:t>
            </a:r>
            <a:r>
              <a:rPr lang="en-US" dirty="0"/>
              <a:t>is caused by an unused function within the firmware that was not removed by the developer.</a:t>
            </a:r>
          </a:p>
          <a:p>
            <a:r>
              <a:rPr lang="en-US" dirty="0"/>
              <a:t>The </a:t>
            </a:r>
            <a:r>
              <a:rPr lang="en-US" b="1" dirty="0"/>
              <a:t>XSS vulnerability</a:t>
            </a:r>
            <a:r>
              <a:rPr lang="en-US" dirty="0"/>
              <a:t>, on the other hand, results from the absence of proper input sanitization during the handling of web requests.</a:t>
            </a:r>
          </a:p>
          <a:p>
            <a:pPr marL="0" indent="0">
              <a:buNone/>
            </a:pPr>
            <a:r>
              <a:rPr lang="en-US" dirty="0"/>
              <a:t>To address these issues, the firmware must be patched by performing </a:t>
            </a:r>
            <a:r>
              <a:rPr lang="en-US" b="1" dirty="0"/>
              <a:t>binary patching </a:t>
            </a:r>
            <a:r>
              <a:rPr lang="en-US" dirty="0"/>
              <a:t>of the code.</a:t>
            </a:r>
          </a:p>
          <a:p>
            <a:r>
              <a:rPr lang="en-US" dirty="0"/>
              <a:t>The firmware update will be carried out through two possible approaches: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flashing the EEPROM memory;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the device’s web interface for firmware updates.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7845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637B6-6A04-01C4-62DA-94908A59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623FB3B-24E7-5304-70D8-3CA40290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081EE3-B6BE-9584-F5AF-E5F6484DA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2D1BF-B2E0-7AB9-F9A8-6D259A6EC1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9643"/>
          <a:stretch>
            <a:fillRect/>
          </a:stretch>
        </p:blipFill>
        <p:spPr>
          <a:xfrm>
            <a:off x="-149" y="-5291"/>
            <a:ext cx="12192001" cy="685800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711BF64-C99B-2F90-ADA1-0C08F9BE8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1856" y="934541"/>
            <a:ext cx="10329631" cy="4992275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0 w 9985794"/>
              <a:gd name="connsiteY0" fmla="*/ 1551223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17333 w 9985794"/>
              <a:gd name="connsiteY0" fmla="*/ 1686702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1 w 9985794"/>
              <a:gd name="connsiteY0" fmla="*/ 1686702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5794" h="4920343">
                <a:moveTo>
                  <a:pt x="1" y="1686702"/>
                </a:moveTo>
                <a:cubicBezTo>
                  <a:pt x="1" y="1124468"/>
                  <a:pt x="0" y="562234"/>
                  <a:pt x="0" y="0"/>
                </a:cubicBez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EEC2433-079E-4294-32A1-61E869319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882" y="2498165"/>
            <a:ext cx="4536336" cy="2016326"/>
          </a:xfrm>
          <a:noFill/>
        </p:spPr>
        <p:txBody>
          <a:bodyPr anchor="b">
            <a:normAutofit/>
          </a:bodyPr>
          <a:lstStyle/>
          <a:p>
            <a:r>
              <a:rPr lang="it-IT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Thanks for </a:t>
            </a:r>
            <a:r>
              <a:rPr lang="it-IT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your</a:t>
            </a:r>
            <a:r>
              <a:rPr lang="it-IT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kind</a:t>
            </a:r>
            <a:r>
              <a:rPr lang="it-IT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attention</a:t>
            </a:r>
            <a:endParaRPr lang="it-IT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011411"/>
      </p:ext>
    </p:extLst>
  </p:cSld>
  <p:clrMapOvr>
    <a:masterClrMapping/>
  </p:clrMapOvr>
</p:sld>
</file>

<file path=ppt/theme/theme1.xml><?xml version="1.0" encoding="utf-8"?>
<a:theme xmlns:a="http://schemas.openxmlformats.org/drawingml/2006/main" name="LimelightVTI">
  <a:themeElements>
    <a:clrScheme name="Limelight">
      <a:dk1>
        <a:sysClr val="windowText" lastClr="000000"/>
      </a:dk1>
      <a:lt1>
        <a:sysClr val="window" lastClr="FFFFFF"/>
      </a:lt1>
      <a:dk2>
        <a:srgbClr val="23353B"/>
      </a:dk2>
      <a:lt2>
        <a:srgbClr val="E0DDD8"/>
      </a:lt2>
      <a:accent1>
        <a:srgbClr val="90A208"/>
      </a:accent1>
      <a:accent2>
        <a:srgbClr val="6A8755"/>
      </a:accent2>
      <a:accent3>
        <a:srgbClr val="49716B"/>
      </a:accent3>
      <a:accent4>
        <a:srgbClr val="A16F7C"/>
      </a:accent4>
      <a:accent5>
        <a:srgbClr val="B16455"/>
      </a:accent5>
      <a:accent6>
        <a:srgbClr val="E08350"/>
      </a:accent6>
      <a:hlink>
        <a:srgbClr val="5F864B"/>
      </a:hlink>
      <a:folHlink>
        <a:srgbClr val="3F877D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482</Words>
  <Application>Microsoft Office PowerPoint</Application>
  <PresentationFormat>Widescreen</PresentationFormat>
  <Paragraphs>39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Aptos</vt:lpstr>
      <vt:lpstr>Arial</vt:lpstr>
      <vt:lpstr>Trade Gothic Next Cond</vt:lpstr>
      <vt:lpstr>Trade Gothic Next Light</vt:lpstr>
      <vt:lpstr>LimelightVTI</vt:lpstr>
      <vt:lpstr>Project Idea </vt:lpstr>
      <vt:lpstr>Available Device</vt:lpstr>
      <vt:lpstr>Main STEPS</vt:lpstr>
      <vt:lpstr>STEP 1</vt:lpstr>
      <vt:lpstr>STEP 2</vt:lpstr>
      <vt:lpstr>STEP 3</vt:lpstr>
      <vt:lpstr>Thanks for your kind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GREGORIO VOCI</dc:creator>
  <cp:lastModifiedBy>Salvatore Curcio</cp:lastModifiedBy>
  <cp:revision>7</cp:revision>
  <dcterms:created xsi:type="dcterms:W3CDTF">2025-12-04T15:53:56Z</dcterms:created>
  <dcterms:modified xsi:type="dcterms:W3CDTF">2026-03-16T17:40:10Z</dcterms:modified>
</cp:coreProperties>
</file>